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Stock Count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  <c:pt idx="3">
                    <c:v>Groceries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4820</c:v>
                </c:pt>
                <c:pt idx="1">
                  <c:v>4780</c:v>
                </c:pt>
                <c:pt idx="2">
                  <c:v>4810</c:v>
                </c:pt>
                <c:pt idx="3">
                  <c:v>4795</c:v>
                </c:pt>
                <c:pt idx="4">
                  <c:v>4805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Autumn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8.32</c:v>
                </c:pt>
                <c:pt idx="1">
                  <c:v>8.38</c:v>
                </c:pt>
                <c:pt idx="2">
                  <c:v>8.4</c:v>
                </c:pt>
                <c:pt idx="3">
                  <c:v>8.35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6"/>
          <c:min val="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Day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  <c:pt idx="3">
                    <c:v>Groceries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138.1</c:v>
                </c:pt>
                <c:pt idx="1">
                  <c:v>137.5</c:v>
                </c:pt>
                <c:pt idx="2">
                  <c:v>137.9</c:v>
                </c:pt>
                <c:pt idx="3">
                  <c:v>138.2</c:v>
                </c:pt>
                <c:pt idx="4">
                  <c:v>137.3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Promotion Day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  <c:pt idx="3">
                    <c:v>Groceries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137.8</c:v>
                </c:pt>
                <c:pt idx="1">
                  <c:v>137.2</c:v>
                </c:pt>
                <c:pt idx="2">
                  <c:v>137.6</c:v>
                </c:pt>
                <c:pt idx="3">
                  <c:v>138</c:v>
                </c:pt>
                <c:pt idx="4">
                  <c:v>137.1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3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Gap %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  <c:pt idx="3">
                    <c:v>Groceries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-8.2</c:v>
                </c:pt>
                <c:pt idx="1">
                  <c:v>-12.1</c:v>
                </c:pt>
                <c:pt idx="2">
                  <c:v>-6.5</c:v>
                </c:pt>
                <c:pt idx="3">
                  <c:v>-18.3</c:v>
                </c:pt>
                <c:pt idx="4">
                  <c:v>-9.7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Overstock %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Store 1</c:v>
                  </c:pt>
                  <c:pt idx="1">
                    <c:v>Store 2</c:v>
                  </c:pt>
                  <c:pt idx="2">
                    <c:v>Store 3</c:v>
                  </c:pt>
                  <c:pt idx="3">
                    <c:v>Store 4</c:v>
                  </c:pt>
                  <c:pt idx="4">
                    <c:v>Store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38.2</c:v>
                </c:pt>
                <c:pt idx="1">
                  <c:v>37.5</c:v>
                </c:pt>
                <c:pt idx="2">
                  <c:v>38</c:v>
                </c:pt>
                <c:pt idx="3">
                  <c:v>37.8</c:v>
                </c:pt>
                <c:pt idx="4">
                  <c:v>37.7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Stock %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Store 1</c:v>
                  </c:pt>
                  <c:pt idx="1">
                    <c:v>Store 2</c:v>
                  </c:pt>
                  <c:pt idx="2">
                    <c:v>Store 3</c:v>
                  </c:pt>
                  <c:pt idx="3">
                    <c:v>Store 4</c:v>
                  </c:pt>
                  <c:pt idx="4">
                    <c:v>Store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33.1</c:v>
                </c:pt>
                <c:pt idx="1">
                  <c:v>32.8</c:v>
                </c:pt>
                <c:pt idx="2">
                  <c:v>33.3</c:v>
                </c:pt>
                <c:pt idx="3">
                  <c:v>32.9</c:v>
                </c:pt>
                <c:pt idx="4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9BBF"/>
                </a:solidFill>
              </a:rPr>
              <a:t>BUSINESS ANALYST 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Stock-Out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Phase 3 Analysis — 5 User Stories | 73,100 Rows | 5 Stores | 20 Products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F"/>
                </a:solidFill>
              </a:rPr>
              <a:t>BanothDeepak  |  github.com/BanothDeepak/retail-stockout-ba-project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01168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05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73,100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Rows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5 stores · 20 products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2011680" cy="1554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05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50592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 Stock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50592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of all inventory 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960120"/>
            <a:ext cx="2011680" cy="1554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005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37.8%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26864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Overstock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6864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excess inventory flagged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03136" y="960120"/>
            <a:ext cx="2011680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005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~0%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03136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Promo Uplift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03136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no incremental demand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Every category simultaneously shows 33% low-stock and 37% overstock — indicating the problem is </a:t>
            </a:r>
            <a:pPr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the replenishment model itself</a:t>
            </a:r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, not a category-specific issue. Promotions run on 50% of days yet deliver zero incremental demand.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User Stories Analysed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US-01 Low Stock Risk  </a:t>
            </a:r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</a:rPr>
              <a:t>·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US-02 Forecast Accuracy  </a:t>
            </a:r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</a:rPr>
              <a:t>·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US-03 Promo Impact  </a:t>
            </a:r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</a:rPr>
              <a:t>·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US-04 Price Gap  </a:t>
            </a:r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</a:rPr>
              <a:t>·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US-05 Stock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US-01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Persona: Store Operations Manager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Flag every row where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Inventory Level &lt; Units Sold × 1.5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so replenishment can be prioritised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before stock runs out.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3657600"/>
            <a:ext cx="3017520" cy="640080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Rule: Inventory Level &lt; Units Sold × 1.5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274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Low Stock Count by Category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566160" y="6858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356616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7AE60"/>
                </a:solidFill>
              </a:rPr>
              <a:t>✓ All 5 categories equally affected — systemic replenishment issue, not category-specific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US-02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Forecast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Accuracy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Persona: Supply Chain Planner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Compare forecast vs actual sales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by season and category to find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where the model consistently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over- or under-predicts.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3657600"/>
            <a:ext cx="3017520" cy="640080"/>
          </a:xfrm>
          <a:prstGeom prst="rect">
            <a:avLst/>
          </a:prstGeom>
          <a:solidFill>
            <a:srgbClr val="E74C3C">
              <a:alpha val="4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Negative forecasts excluded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(data quality flag)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274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Mean Absolute Error by Season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566160" y="6858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3566160" y="3977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39C12"/>
                </a:solidFill>
              </a:rPr>
              <a:t>Finding: MAE barely moves across seasons (8.32–8.40) — no seasonal weighting in the forecast model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US-03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Promotion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Persona: Category Manager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Compare inventory levels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units sold on promotion vs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normal days — by category.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3474720"/>
            <a:ext cx="3017520" cy="128016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137.8 vs 137.6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Normal vs Promo units sold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— virtually identical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274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Avg Units Sold — Promo vs Normal Days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566160" y="6858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3566160" y="3977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74C3C"/>
                </a:solidFill>
              </a:rPr>
              <a:t>Key question for leadership: Are we spending on promotions that deliver no incremental demand?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US-04 &amp; US-05 — Price Gap &amp; Stock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023360" cy="3474720"/>
          </a:xfrm>
          <a:prstGeom prst="rect">
            <a:avLst/>
          </a:prstGeom>
          <a:solidFill>
            <a:srgbClr val="F4F7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US-04 · Price Gap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Persona: Pricing Analyst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4630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⚠ Groceries at −18.3% — exceeds the 15% underpriced threshold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54880" y="777240"/>
            <a:ext cx="4023360" cy="3474720"/>
          </a:xfrm>
          <a:prstGeom prst="rect">
            <a:avLst/>
          </a:prstGeom>
          <a:solidFill>
            <a:srgbClr val="F4F7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US-05 · Stock Summary by Store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F"/>
                </a:solidFill>
              </a:rPr>
              <a:t>Persona: Operations Director</a:t>
            </a:r>
            <a:endParaRPr lang="en-US" sz="9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754880" y="14630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484632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Finding: Consistent across all 5 stores — redistribution alone won't solve the issue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Four actions for leadership to consider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691640"/>
          </a:xfrm>
          <a:prstGeom prst="rect">
            <a:avLst/>
          </a:prstGeom>
          <a:solidFill>
            <a:srgbClr val="1A2E6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02920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37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 the Replenishment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6420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33% low-stock and 37% overstock across all categories points to a broken reorder formula. Define dynamic reorder points using Inventory Level vs Units Sold × 1.5.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691640"/>
          </a:xfrm>
          <a:prstGeom prst="rect">
            <a:avLst/>
          </a:prstGeom>
          <a:solidFill>
            <a:srgbClr val="1A2E6B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502920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37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280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Introduce Seasonal Weighting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66420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MAE is flat at 8.32–8.40 across all seasons — no seasonal adjustment exists. Prioritise Furniture (Autumn) and Toys (Winter) for model recalibration.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691640"/>
          </a:xfrm>
          <a:prstGeom prst="rect">
            <a:avLst/>
          </a:prstGeom>
          <a:solidFill>
            <a:srgbClr val="1A2E6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63240"/>
            <a:ext cx="502920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154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Promotion ROI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53872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Promotions run 50% of all days but deliver zero incremental demand (137.6 vs 137.8 units). Conduct a full spend audit before the next promotional cycle.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1A2E6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63240"/>
            <a:ext cx="502920" cy="1691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154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Address Grocery Underpricing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53872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Groceries average −18.3% below competitor price — exceeding the 15% threshold. Immediate pricing review recommended to recover margin.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BA Portfolio Project — Retail Stock-Out Reduction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148840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21305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 Dictionary — 15 columns defined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624328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 User Stories — with acceptance criteria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3099816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30815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Business Requirements Document — 9 sections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3575304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35570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Phase 3 Python Analysis — all 5 user stories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4050792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40325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Phase 4 Deck + HTML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</a:rPr>
              <a:t>github.com/BanothDeepak/retail-stockout-ba-project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Stock-Out Reduction</dc:title>
  <dc:subject>PptxGenJS Presentation</dc:subject>
  <dc:creator>BanothDeepak</dc:creator>
  <cp:lastModifiedBy>BanothDeepak</cp:lastModifiedBy>
  <cp:revision>1</cp:revision>
  <dcterms:created xsi:type="dcterms:W3CDTF">2026-05-02T16:46:23Z</dcterms:created>
  <dcterms:modified xsi:type="dcterms:W3CDTF">2026-05-02T16:46:23Z</dcterms:modified>
</cp:coreProperties>
</file>